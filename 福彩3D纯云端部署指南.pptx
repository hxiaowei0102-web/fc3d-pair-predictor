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8FAFC"/>
                </a:solidFill>
                <a:latin typeface="Microsoft YaHei"/>
              </a:defRPr>
            </a:pPr>
            <a:r>
              <a:t>福彩3D 两码不组预测系统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Microsoft YaHei"/>
              </a:defRPr>
            </a:pPr>
            <a:r>
              <a:t>纯云端部署完全指南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GitHub Pages + GitHub Actions | 零成本 · 全自动 · 手机即用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D399"/>
                </a:solidFill>
                <a:latin typeface="Microsoft YaHei"/>
              </a:defRPr>
            </a:pPr>
            <a:r>
              <a:t>永久免费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457200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D399"/>
                </a:solidFill>
                <a:latin typeface="Microsoft YaHei"/>
              </a:defRPr>
            </a:pPr>
            <a:r>
              <a:t>每日自动更新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57200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D399"/>
                </a:solidFill>
                <a:latin typeface="Microsoft YaHei"/>
              </a:defRPr>
            </a:pPr>
            <a:r>
              <a:t>手机端优化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59" y="457200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D399"/>
                </a:solidFill>
                <a:latin typeface="Microsoft YaHei"/>
              </a:defRPr>
            </a:pPr>
            <a:r>
              <a:t>95%准确率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4572000"/>
            <a:ext cx="18288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4D399"/>
                </a:solidFill>
                <a:latin typeface="Microsoft YaHei"/>
              </a:defRPr>
            </a:pPr>
            <a:r>
              <a:t>零运维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晓炜工作室 ·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项目架构总览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了解整个系统如何运作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560320" cy="1371600"/>
          </a:xfrm>
          <a:prstGeom prst="rect">
            <a:avLst/>
          </a:prstGeom>
          <a:solidFill>
            <a:srgbClr val="1E293B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数据源</a:t>
            </a:r>
          </a:p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cwl.gov.cn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645920"/>
            <a:ext cx="2560320" cy="137160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GitHub Actions</a:t>
            </a:r>
          </a:p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每日21:30运行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645920"/>
            <a:ext cx="2560320" cy="1371600"/>
          </a:xfrm>
          <a:prstGeom prst="rect">
            <a:avLst/>
          </a:prstGeom>
          <a:solidFill>
            <a:srgbClr val="1E293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GitHub Pages</a:t>
            </a:r>
          </a:p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免费托管网页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645920"/>
            <a:ext cx="2560320" cy="1371600"/>
          </a:xfrm>
          <a:prstGeom prst="rect">
            <a:avLst/>
          </a:prstGeom>
          <a:solidFill>
            <a:srgbClr val="1E293B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手机浏览器</a:t>
            </a:r>
          </a:p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随时随地查看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011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B5C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356616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📊 V12算法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DIGIT 数字投影 (槽1)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MOM 数字动量 (槽2)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WAKEUP 唤醒检测 (槽3)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100期回测准确率 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3474720"/>
            <a:ext cx="356616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📁 核心文件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auto_predict.py - 自动预测管线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predict_v12.py - V12算法引擎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build_html.py - HTML生成器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.github/workflows/predict.yml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3474720"/>
            <a:ext cx="356616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🔒 安全保障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零未来数据泄漏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严格时间序列分离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固定规则无过拟合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三组算法独立并行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步骤 1/5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创建 GitHub 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免费注册 GitHub 账号，创建一个公开仓库来存放代码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Microsoft YaHei"/>
              </a:defRPr>
            </a:pPr>
            <a:r>
              <a:t>注册 GitHub 账号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访问 github.com → 点击 Sign up → 用邮箱注册</a:t>
            </a:r>
            <a:br/>
            <a:r>
              <a:t>免费账号即可，无需付费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Microsoft YaHei"/>
              </a:defRPr>
            </a:pPr>
            <a:r>
              <a:t>新建仓库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023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点击右上角 + → New repository</a:t>
            </a:r>
            <a:br/>
            <a:r>
              <a:t>仓库名: fc3d-pair-predictor</a:t>
            </a:r>
            <a:br/>
            <a:r>
              <a:t>选择 Public（公开）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Microsoft YaHei"/>
              </a:defRPr>
            </a:pPr>
            <a:r>
              <a:t>克隆到本地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486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git clone https://github.com/你的用户名/fc3d-pair-predictor.git</a:t>
            </a:r>
            <a:br/>
            <a:r>
              <a:t>将项目所有文件复制进去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194560"/>
            <a:ext cx="4846320" cy="3200400"/>
          </a:xfrm>
          <a:prstGeom prst="rect">
            <a:avLst/>
          </a:prstGeom>
          <a:solidFill>
            <a:srgbClr val="0B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📁 项目文件结构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# 项目文件结构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fc3d-pair-predictor/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├── auto_predict.py    # 自动预测入口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├── predict_v12.py     # V12核心算法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├── build_html.py      # HTML页面生成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├── history.csv        # 历史开奖数据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├── index.html         # 展示页面(生成)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├── prediction_v12.json# 预测结果(生成)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└── .github/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└── workflows/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└── predict.yml # 自动任务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💡 提示: 仓库必须设为 Public，GitHub Pages 免费服务仅限公开仓库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步骤 2/5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配置自动预测工作流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创建 .github/workflows/predict.yml，实现每日自动拉数据→预测→部署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⏰ 触发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schedule cron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"30 13 * * *"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(= BJT 21:30)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10312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📥 拉数据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checkout + 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setup-python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pip install numpy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10312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🔮 预测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python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auto_predict.py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↓ 生成JSON+HTML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210312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⬆ 提交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git commit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git push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更新到仓库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2103120"/>
            <a:ext cx="2011680" cy="1645920"/>
          </a:xfrm>
          <a:prstGeom prst="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1600" b="1">
                <a:solidFill>
                  <a:srgbClr val="EF4444"/>
                </a:solidFill>
                <a:latin typeface="Microsoft YaHei"/>
              </a:defRPr>
            </a:pPr>
            <a:r>
              <a:t>🚀 部署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configure-pages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upload-artifact</a:t>
            </a:r>
          </a:p>
          <a:p>
            <a:pPr algn="ctr">
              <a:defRPr sz="1100">
                <a:solidFill>
                  <a:srgbClr val="94A3B8"/>
                </a:solidFill>
                <a:latin typeface="Microsoft YaHei"/>
              </a:defRPr>
            </a:pPr>
            <a:r>
              <a:t>deploy-pages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486400" cy="2560320"/>
          </a:xfrm>
          <a:prstGeom prst="rect">
            <a:avLst/>
          </a:prstGeom>
          <a:solidFill>
            <a:srgbClr val="0B101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/>
          <a:lstStyle/>
          <a:p>
            <a:pPr algn="ctr">
              <a:defRPr sz="1100" b="1">
                <a:solidFill>
                  <a:srgbClr val="F59E0B"/>
                </a:solidFill>
                <a:latin typeface="Consolas"/>
              </a:defRPr>
            </a:pPr>
            <a:r>
              <a:t>📄 .github/workflows/predict.yml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name: 福彩3D每日预测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on: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schedule: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- cron: "30 13 * * *"  # BJT 21:30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workflow_dispatch: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jobs: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predict-and-deploy: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runs-on: ubuntu-latest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permissions: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contents: write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pages: write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steps: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uses: actions/checkout@v4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uses: actions/setup-python@v5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with: python-version: "3.11"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run: pip install numpy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run: python auto_predict.py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- run: |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git config user.name "bot"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git add index.html prediction_v12.json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git commit -m "🔮 auto" || true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  <a:latin typeface="Consolas"/>
              </a:defRPr>
            </a:pPr>
            <a:r>
              <a:t>          git 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023360"/>
            <a:ext cx="502920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⚙️ 关键配置说明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cron "30 13 * * *" = UTC 13:30 = BJT 21:30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workflow_dispatch = 可随时手动触发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permissions: write = 允许自动提交代码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ubuntu-latest = GitHub提供的免费虚拟机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numpy = 算法计算所需的唯一依赖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部署到 Pages 无需额外配置域名或服务器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步骤 3/5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启用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将仓库自动发布为网站，获得永久免费的 HTTPS 域名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029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0A5FA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进入仓库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5146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打开 GitHub 仓库 → 点击顶部 Settings 标签页</a:t>
            </a:r>
            <a:br/>
            <a:r>
              <a:t>在左侧菜单找到 Pages 选项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39"/>
            <a:ext cx="5029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375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选择部署源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0331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Source: Deploy from a branch</a:t>
            </a:r>
            <a:br/>
            <a:r>
              <a:t>Branch: main / root</a:t>
            </a:r>
            <a:br/>
            <a:r>
              <a:t>点击 Save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5029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526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等待部署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8920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首次部署约 1-2 分钟</a:t>
            </a:r>
            <a:br/>
            <a:r>
              <a:t>刷新页面即可看到绿色提示:</a:t>
            </a:r>
            <a:br/>
            <a:r>
              <a:t>"Your site is live at..."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669280"/>
            <a:ext cx="50292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Microsoft YaHei"/>
              </a:defRPr>
            </a:pPr>
            <a:r>
              <a:t>4️⃣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获取网址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0807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https://你的用户名.github.io/仓库名/</a:t>
            </a:r>
            <a:br/>
            <a:r>
              <a:t>这就是你的永久访问地址</a:t>
            </a:r>
            <a:br/>
            <a:r>
              <a:t>支持 HTTPS 加密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103120"/>
            <a:ext cx="502920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🌐 实际部署地址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项目网址: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hxiaowei0102-web.github.io/fc3d-pair-predictor/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永久免费，无需续费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自动 HTTPS 加密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全球 CDN 加速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支持手机直接访问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每天 21:30 自动更新内容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步骤 4/5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手机端使用指南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只需手机浏览器，无需安装任何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53035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60A5FA"/>
                </a:solidFill>
                <a:latin typeface="Microsoft YaHei"/>
              </a:defRPr>
            </a:pPr>
            <a:r>
              <a:t>🍎 iPhone / iOS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1. 打开 Safari 浏览器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2. 输入网址打开页面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3. 点击底部 分享按钮 (↑)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4. 选择「添加到主屏幕」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5. 命名后点击「添加」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6. 桌面出现 App 图标，点击即用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✨ 已配置: apple-mobile-web-app-capable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全屏体验，隐藏浏览器工具栏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103120"/>
            <a:ext cx="5303520" cy="274320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🤖 Android / 安卓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1. 打开 Chrome 浏览器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2. 输入网址打开页面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3. 点击右上角 三个点 (⋮)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4. 选择「添加到主屏幕」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5. 确认名称后点击「添加」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6. 桌面出现快捷方式，点击即用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✨ 页面已针对 640px 移动端优化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每 5 分钟自动刷新数据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10881360" cy="13716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📱 页面核心功能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① 首行大字显示期号 | ② 三组独立算法预测数字 (DIGIT/MOM/WAKEUP) | ③ 95%准确率统计卡片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④ 算法详细介绍区域 | ⑤ 100期回测明细表格 (由近到远) | ⑥ 底部显示更新时间和版本历程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步骤 5/5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费用与日常维护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全部免费，零运维负担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服务项目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费用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56032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GitHub Pages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56032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网页托管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56032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永久免费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56032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无流量限制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0" y="2560320"/>
            <a:ext cx="914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Microsoft YaHei"/>
              </a:defRPr>
            </a:pPr>
            <a:r>
              <a:t>✓ 免费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063239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063239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自动执行任务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3063239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2000分钟/月免费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063239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我们只用~30分钟/月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0" y="3063239"/>
            <a:ext cx="91440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Microsoft YaHei"/>
              </a:defRPr>
            </a:pPr>
            <a:r>
              <a:t>✓ 免费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356616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域名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56616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github.io 子域名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0" y="356616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永久免费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56616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HTTPS 自动配置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0" y="3566160"/>
            <a:ext cx="914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Microsoft YaHei"/>
              </a:defRPr>
            </a:pPr>
            <a:r>
              <a:t>✓ 免费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069080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服务器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069080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不需要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069080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¥0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069080"/>
            <a:ext cx="219456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GitHub 提供虚拟机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0" y="4069080"/>
            <a:ext cx="914400" cy="457200"/>
          </a:xfrm>
          <a:prstGeom prst="rect">
            <a:avLst/>
          </a:prstGeom>
          <a:solidFill>
            <a:srgbClr val="162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Microsoft YaHei"/>
              </a:defRPr>
            </a:pPr>
            <a:r>
              <a:t>✓ 免费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57200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457200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不需要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457200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¥0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572000"/>
            <a:ext cx="219456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F8FAFC"/>
                </a:solidFill>
                <a:latin typeface="Microsoft YaHei"/>
              </a:defRPr>
            </a:pPr>
            <a:r>
              <a:t>CSV 文件存储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0" y="4572000"/>
            <a:ext cx="914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Microsoft YaHei"/>
              </a:defRPr>
            </a:pPr>
            <a:r>
              <a:t>✓ 免费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074920"/>
            <a:ext cx="2194560" cy="457200"/>
          </a:xfrm>
          <a:prstGeom prst="rect">
            <a:avLst/>
          </a:prstGeom>
          <a:solidFill>
            <a:srgbClr val="2D1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总计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5074920"/>
            <a:ext cx="2194560" cy="457200"/>
          </a:xfrm>
          <a:prstGeom prst="rect">
            <a:avLst/>
          </a:prstGeom>
          <a:solidFill>
            <a:srgbClr val="2D1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Microsoft YaHei"/>
              </a:defRPr>
            </a:pPr>
          </a:p>
        </p:txBody>
      </p:sp>
      <p:sp>
        <p:nvSpPr>
          <p:cNvPr id="38" name="Rectangle 37"/>
          <p:cNvSpPr/>
          <p:nvPr/>
        </p:nvSpPr>
        <p:spPr>
          <a:xfrm>
            <a:off x="5852160" y="5074920"/>
            <a:ext cx="2194560" cy="457200"/>
          </a:xfrm>
          <a:prstGeom prst="rect">
            <a:avLst/>
          </a:prstGeom>
          <a:solidFill>
            <a:srgbClr val="2D1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永久 ¥0/月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074920"/>
            <a:ext cx="2194560" cy="457200"/>
          </a:xfrm>
          <a:prstGeom prst="rect">
            <a:avLst/>
          </a:prstGeom>
          <a:solidFill>
            <a:srgbClr val="2D1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  <a:latin typeface="Microsoft YaHei"/>
              </a:defRPr>
            </a:pPr>
          </a:p>
        </p:txBody>
      </p:sp>
      <p:sp>
        <p:nvSpPr>
          <p:cNvPr id="40" name="Rectangle 39"/>
          <p:cNvSpPr/>
          <p:nvPr/>
        </p:nvSpPr>
        <p:spPr>
          <a:xfrm>
            <a:off x="10972800" y="5074920"/>
            <a:ext cx="914400" cy="457200"/>
          </a:xfrm>
          <a:prstGeom prst="rect">
            <a:avLst/>
          </a:prstGeom>
          <a:solidFill>
            <a:srgbClr val="2D1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4D399"/>
                </a:solidFill>
                <a:latin typeface="Microsoft YaHei"/>
              </a:defRPr>
            </a:pPr>
            <a:r>
              <a:t>✓ 免费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303520"/>
            <a:ext cx="53035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🔄 日常维护 (几乎为零)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系统全自动运行，无需人工干预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每天 21:30 BJT 自动拉取最新开奖数据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自动执行 V12 算法预测 + 100期回测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✓ 自动生成 HTML 页面并部署到 GitHub Pages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303520"/>
            <a:ext cx="5303520" cy="11887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 algn="ctr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⚠️ 可能需要关注的情况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如果 GitHub Action 运行失败（极少发生）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GitHub 会发邮件通知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• 如果数据源 API 故障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  → 系统自动回退使用本地历史数据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2011680"/>
          </a:xfrm>
          <a:prstGeom prst="rect">
            <a:avLst/>
          </a:prstGeom>
          <a:solidFill>
            <a:srgbClr val="1E293B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4800"/>
            </a:pPr>
            <a:r>
              <a:t>📂 代码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60A5FA"/>
                </a:solidFill>
                <a:latin typeface="Microsoft YaHei"/>
              </a:defRPr>
            </a:pPr>
            <a:r>
              <a:t>推送到 GitHub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git add . &amp;&amp; git commit &amp;&amp; git push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463040"/>
            <a:ext cx="3474720" cy="2011680"/>
          </a:xfrm>
          <a:prstGeom prst="rect">
            <a:avLst/>
          </a:prstGeom>
          <a:solidFill>
            <a:srgbClr val="1E293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4800"/>
            </a:pPr>
            <a:r>
              <a:t>⚙️ 自动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GitHub Actions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每日 21:30 自动执行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463040"/>
            <a:ext cx="3474720" cy="2011680"/>
          </a:xfrm>
          <a:prstGeom prst="rect">
            <a:avLst/>
          </a:prstGeom>
          <a:solidFill>
            <a:srgbClr val="1E293B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0"/>
          <a:lstStyle/>
          <a:p>
            <a:pPr algn="ctr">
              <a:defRPr sz="4800"/>
            </a:pPr>
            <a:r>
              <a:t>🌐 访问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34D399"/>
                </a:solidFill>
                <a:latin typeface="Microsoft YaHei"/>
              </a:defRPr>
            </a:pPr>
            <a:r>
              <a:t>手机打开网址</a:t>
            </a:r>
          </a:p>
          <a:p>
            <a:pPr algn="ctr">
              <a:spcBef>
                <a:spcPts val="800"/>
              </a:spcBef>
              <a:defRPr sz="1400">
                <a:solidFill>
                  <a:srgbClr val="94A3B8"/>
                </a:solidFill>
                <a:latin typeface="Microsoft YaHei"/>
              </a:defRPr>
            </a:pPr>
            <a:r>
              <a:t>github.io/fc3d-pair-predictor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Microsoft YaHei"/>
              </a:defRPr>
            </a:pPr>
            <a:r>
              <a:t>当前运行数据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17373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3000" b="1">
                <a:solidFill>
                  <a:srgbClr val="EF4444"/>
                </a:solidFill>
                <a:latin typeface="Microsoft YaHei"/>
              </a:defRPr>
            </a:pPr>
            <a:r>
              <a:t>95.0%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100期准确率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4389120"/>
            <a:ext cx="17373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3000" b="1">
                <a:solidFill>
                  <a:srgbClr val="60A5FA"/>
                </a:solidFill>
                <a:latin typeface="Microsoft YaHei"/>
              </a:defRPr>
            </a:pPr>
            <a:r>
              <a:t>1005期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训练数据量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389120"/>
            <a:ext cx="17373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3000" b="1">
                <a:solidFill>
                  <a:srgbClr val="F59E0B"/>
                </a:solidFill>
                <a:latin typeface="Microsoft YaHei"/>
              </a:defRPr>
            </a:pPr>
            <a:r>
              <a:t>V12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算法版本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4389120"/>
            <a:ext cx="17373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3000" b="1">
                <a:solidFill>
                  <a:srgbClr val="34D399"/>
                </a:solidFill>
                <a:latin typeface="Microsoft YaHei"/>
              </a:defRPr>
            </a:pPr>
            <a:r>
              <a:t>21:30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每日更新时间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4389120"/>
            <a:ext cx="17373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3000" b="1">
                <a:solidFill>
                  <a:srgbClr val="8B5CF6"/>
                </a:solidFill>
                <a:latin typeface="Microsoft YaHei"/>
              </a:defRPr>
            </a:pPr>
            <a:r>
              <a:t>¥0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月度费用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4389120"/>
            <a:ext cx="173736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/>
          <a:lstStyle/>
          <a:p>
            <a:pPr algn="ctr">
              <a:defRPr sz="3000" b="1">
                <a:solidFill>
                  <a:srgbClr val="EF4444"/>
                </a:solidFill>
                <a:latin typeface="Microsoft YaHei"/>
              </a:defRPr>
            </a:pPr>
            <a:r>
              <a:t>3组</a:t>
            </a:r>
          </a:p>
          <a:p>
            <a:pPr algn="ctr">
              <a:defRPr sz="1200">
                <a:solidFill>
                  <a:srgbClr val="94A3B8"/>
                </a:solidFill>
                <a:latin typeface="Microsoft YaHei"/>
              </a:defRPr>
            </a:pPr>
            <a:r>
              <a:t>独立算法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5760720"/>
            <a:ext cx="8503920" cy="731520"/>
          </a:xfrm>
          <a:prstGeom prst="rect">
            <a:avLst/>
          </a:prstGeom>
          <a:solidFill>
            <a:srgbClr val="2D1F0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9E0B"/>
                </a:solidFill>
                <a:latin typeface="Consolas"/>
              </a:defRPr>
            </a:pPr>
            <a:r>
              <a:t>🔗 hxiaowei0102-web.github.io/fc3d-pair-predictor/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